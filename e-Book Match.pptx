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7" r:id="rId2"/>
    <p:sldId id="261" r:id="rId3"/>
    <p:sldId id="265" r:id="rId4"/>
    <p:sldId id="267" r:id="rId5"/>
    <p:sldId id="266" r:id="rId6"/>
    <p:sldId id="268" r:id="rId7"/>
    <p:sldId id="269" r:id="rId8"/>
    <p:sldId id="264" r:id="rId9"/>
    <p:sldId id="270" r:id="rId10"/>
    <p:sldId id="271" r:id="rId11"/>
    <p:sldId id="272" r:id="rId12"/>
    <p:sldId id="262" r:id="rId13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A2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972" y="-4818"/>
      </p:cViewPr>
      <p:guideLst>
        <p:guide orient="horz" pos="4032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2645E-7F68-4500-BD15-BDBCE48887E3}" type="datetimeFigureOut">
              <a:rPr lang="pt-BR" smtClean="0"/>
              <a:t>10/01/2025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D24788-8428-4751-9146-4E6733AAD7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2934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1476B-FE13-4957-8929-3CE9998ADF9D}" type="datetime1">
              <a:rPr lang="pt-BR" smtClean="0"/>
              <a:t>10/01/2025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Transformando Oportunidades em Realidade - Isabel Brito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40BB-3AD7-4B08-947F-A05158C818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2854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6C7C1-D1E3-4967-B22E-5B38C35283F5}" type="datetime1">
              <a:rPr lang="pt-BR" smtClean="0"/>
              <a:t>10/01/2025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Transformando Oportunidades em Realidade - Isabel Brito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40BB-3AD7-4B08-947F-A05158C818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985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8DDF3-33B3-4705-AA20-4C488BEA5C73}" type="datetime1">
              <a:rPr lang="pt-BR" smtClean="0"/>
              <a:t>10/01/2025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Transformando Oportunidades em Realidade - Isabel Brito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40BB-3AD7-4B08-947F-A05158C818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7373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EB4EF-BCAC-4CC9-8172-E35B30E25C57}" type="datetime1">
              <a:rPr lang="pt-BR" smtClean="0"/>
              <a:t>10/01/2025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Transformando Oportunidades em Realidade - Isabel Brito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40BB-3AD7-4B08-947F-A05158C818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2795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7C29E-30B7-4FF8-9BD0-02301F735340}" type="datetime1">
              <a:rPr lang="pt-BR" smtClean="0"/>
              <a:t>10/01/2025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Transformando Oportunidades em Realidade - Isabel Brito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40BB-3AD7-4B08-947F-A05158C818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7579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BC10-BFC1-46C4-BD3D-4B70F54A51AB}" type="datetime1">
              <a:rPr lang="pt-BR" smtClean="0"/>
              <a:t>10/01/2025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Transformando Oportunidades em Realidade - Isabel Brito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40BB-3AD7-4B08-947F-A05158C818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7657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A5BEB-0D4E-4B7D-A8BD-7B269B96B6A2}" type="datetime1">
              <a:rPr lang="pt-BR" smtClean="0"/>
              <a:t>10/01/2025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Transformando Oportunidades em Realidade - Isabel Brito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40BB-3AD7-4B08-947F-A05158C818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6829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A2564-7879-4D21-B1A2-81193BDDE056}" type="datetime1">
              <a:rPr lang="pt-BR" smtClean="0"/>
              <a:t>10/01/2025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Transformando Oportunidades em Realidade - Isabel Brito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40BB-3AD7-4B08-947F-A05158C818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0967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64829-82D3-4AA2-9199-120078F247DD}" type="datetime1">
              <a:rPr lang="pt-BR" smtClean="0"/>
              <a:t>10/01/2025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Transformando Oportunidades em Realidade - Isabel Brito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40BB-3AD7-4B08-947F-A05158C818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1606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F304-2DDF-4458-A5DE-44CCF9EAA9EE}" type="datetime1">
              <a:rPr lang="pt-BR" smtClean="0"/>
              <a:t>10/01/2025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Transformando Oportunidades em Realidade - Isabel Brito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40BB-3AD7-4B08-947F-A05158C818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1549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6B83-02A3-48E3-9522-6173661E92BD}" type="datetime1">
              <a:rPr lang="pt-BR" smtClean="0"/>
              <a:t>10/01/2025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Transformando Oportunidades em Realidade - Isabel Brito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40BB-3AD7-4B08-947F-A05158C818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853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C49C1-5F8D-4B0D-B9C0-530377225C54}" type="datetime1">
              <a:rPr lang="pt-BR" smtClean="0"/>
              <a:t>10/01/2025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Transformando Oportunidades em Realidade - Isabel Brito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D440BB-3AD7-4B08-947F-A05158C818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8314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C24E8C4-E3EF-F084-E958-F3680BC1A86C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rgbClr val="78A2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 descr="Thumbnail Image Resultados Esperados para um aplicativo de busca de empregos em português">
            <a:extLst>
              <a:ext uri="{FF2B5EF4-FFF2-40B4-BE49-F238E27FC236}">
                <a16:creationId xmlns:a16="http://schemas.microsoft.com/office/drawing/2014/main" id="{F9440DFB-84A9-3666-911C-55BC6245F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9601200" cy="960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1B674C4-2598-D287-D02C-7485A52FD2E7}"/>
              </a:ext>
            </a:extLst>
          </p:cNvPr>
          <p:cNvSpPr txBox="1"/>
          <p:nvPr/>
        </p:nvSpPr>
        <p:spPr>
          <a:xfrm>
            <a:off x="620486" y="228600"/>
            <a:ext cx="86378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latin typeface="CAIXA Std ExtraBold" panose="020B0903020204030204" pitchFamily="34" charset="0"/>
              </a:rPr>
              <a:t>match</a:t>
            </a:r>
            <a:endParaRPr lang="pt-BR" sz="5400" dirty="0">
              <a:solidFill>
                <a:schemeClr val="bg1"/>
              </a:solidFill>
              <a:latin typeface="CAIXA Std ExtraBold" panose="020B090302020403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1DD23DC-AFEA-AA06-D6C8-DF4865EC6D84}"/>
              </a:ext>
            </a:extLst>
          </p:cNvPr>
          <p:cNvSpPr txBox="1"/>
          <p:nvPr/>
        </p:nvSpPr>
        <p:spPr>
          <a:xfrm>
            <a:off x="1665514" y="1143000"/>
            <a:ext cx="6711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i="0" dirty="0">
                <a:solidFill>
                  <a:schemeClr val="bg1"/>
                </a:solidFill>
                <a:effectLst/>
                <a:latin typeface="CAIXA Std Book" panose="020B0503020204030204" pitchFamily="34" charset="0"/>
              </a:rPr>
              <a:t>CONECTANDO TALENTOS E EMPRESAS</a:t>
            </a:r>
            <a:endParaRPr lang="pt-BR" dirty="0">
              <a:solidFill>
                <a:schemeClr val="bg1"/>
              </a:solidFill>
              <a:latin typeface="CAIXA Std Book" panose="020B0503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423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>
            <a:extLst>
              <a:ext uri="{FF2B5EF4-FFF2-40B4-BE49-F238E27FC236}">
                <a16:creationId xmlns:a16="http://schemas.microsoft.com/office/drawing/2014/main" id="{1EFF2D04-AC3A-73C2-1508-F300B6591FA4}"/>
              </a:ext>
            </a:extLst>
          </p:cNvPr>
          <p:cNvSpPr txBox="1"/>
          <p:nvPr/>
        </p:nvSpPr>
        <p:spPr>
          <a:xfrm>
            <a:off x="1796143" y="4507043"/>
            <a:ext cx="6237514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Este processo ajuda a garantir que o produto atenda às necessidades reais do mercado e dos usuários. Vamos explorar os principais passos para realizar uma pesquisa eficaz, sempre com exemplos práticos.</a:t>
            </a:r>
          </a:p>
          <a:p>
            <a:pPr algn="l"/>
            <a:endParaRPr lang="pt-BR" sz="2400" b="0" i="0" dirty="0">
              <a:solidFill>
                <a:srgbClr val="242424"/>
              </a:solidFill>
              <a:effectLst/>
            </a:endParaRPr>
          </a:p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1. Definição das Hipóteses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Antes de iniciar a pesquisa, é essencial definir claramente as hipóteses que você deseja validar. Por exemplo, uma hipótese pode ser: "Empresas têm dificuldade em encontrar candidatos qualificados rapidamente."</a:t>
            </a:r>
          </a:p>
          <a:p>
            <a:pPr algn="l"/>
            <a:r>
              <a:rPr lang="pt-BR" sz="2400" dirty="0"/>
              <a:t>.</a:t>
            </a:r>
            <a:r>
              <a:rPr lang="pt-BR" sz="2400" b="1" i="0" dirty="0">
                <a:solidFill>
                  <a:srgbClr val="242424"/>
                </a:solidFill>
                <a:effectLst/>
              </a:rPr>
              <a:t> 2. Identificação do Público-Alvo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Identifique quem são os usuários e clientes potenciais do seu aplicativo. No caso do ENCAIXA, o público-alvo pode incluir recrutadores de empresas e candidatos em busca de emprego.</a:t>
            </a:r>
          </a:p>
          <a:p>
            <a:endParaRPr lang="pt-BR" dirty="0"/>
          </a:p>
        </p:txBody>
      </p:sp>
      <p:sp>
        <p:nvSpPr>
          <p:cNvPr id="3" name="Título">
            <a:extLst>
              <a:ext uri="{FF2B5EF4-FFF2-40B4-BE49-F238E27FC236}">
                <a16:creationId xmlns:a16="http://schemas.microsoft.com/office/drawing/2014/main" id="{19A3112D-706A-D9DB-76E9-CE21C2A13C72}"/>
              </a:ext>
            </a:extLst>
          </p:cNvPr>
          <p:cNvSpPr txBox="1"/>
          <p:nvPr/>
        </p:nvSpPr>
        <p:spPr>
          <a:xfrm>
            <a:off x="1665514" y="636813"/>
            <a:ext cx="65804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+mj-lt"/>
              </a:rPr>
              <a:t>VALIDAÇÃO DAS HIPÓTESES</a:t>
            </a:r>
          </a:p>
        </p:txBody>
      </p:sp>
      <p:sp>
        <p:nvSpPr>
          <p:cNvPr id="5" name="Subtítulo">
            <a:extLst>
              <a:ext uri="{FF2B5EF4-FFF2-40B4-BE49-F238E27FC236}">
                <a16:creationId xmlns:a16="http://schemas.microsoft.com/office/drawing/2014/main" id="{E7F95663-9728-B4EE-49A6-7297DF536BC1}"/>
              </a:ext>
            </a:extLst>
          </p:cNvPr>
          <p:cNvSpPr txBox="1"/>
          <p:nvPr/>
        </p:nvSpPr>
        <p:spPr>
          <a:xfrm>
            <a:off x="1796143" y="2106386"/>
            <a:ext cx="68253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0" i="0" dirty="0">
                <a:solidFill>
                  <a:srgbClr val="242424"/>
                </a:solidFill>
                <a:effectLst/>
                <a:latin typeface="+mj-lt"/>
              </a:rPr>
              <a:t>A validação de hipóteses é um passo crucial na criação de um aplicativo como o </a:t>
            </a:r>
            <a:r>
              <a:rPr lang="pt-BR" sz="3200" b="0" i="1" dirty="0">
                <a:solidFill>
                  <a:srgbClr val="242424"/>
                </a:solidFill>
                <a:effectLst/>
                <a:latin typeface="+mj-lt"/>
              </a:rPr>
              <a:t>Match</a:t>
            </a:r>
            <a:endParaRPr lang="pt-BR" sz="3200" i="1" dirty="0">
              <a:latin typeface="+mj-lt"/>
            </a:endParaRP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AF2B5E5-F7FF-EC3A-221A-58F7C3289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Transformando Oportunidades em Realidade - Isabel Brito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14319E8-BF18-97FF-BA48-051C64FF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40BB-3AD7-4B08-947F-A05158C8182A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9339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>
            <a:extLst>
              <a:ext uri="{FF2B5EF4-FFF2-40B4-BE49-F238E27FC236}">
                <a16:creationId xmlns:a16="http://schemas.microsoft.com/office/drawing/2014/main" id="{1EFF2D04-AC3A-73C2-1508-F300B6591FA4}"/>
              </a:ext>
            </a:extLst>
          </p:cNvPr>
          <p:cNvSpPr txBox="1"/>
          <p:nvPr/>
        </p:nvSpPr>
        <p:spPr>
          <a:xfrm>
            <a:off x="1355272" y="1388286"/>
            <a:ext cx="6237514" cy="10341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3. Criação de Questionários e Entrevistas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Desenvolva questionários e roteiros de entrevistas para coletar dados qualitativos e quantitativos. Pergunte aos recrutadores sobre suas dificuldades no processo de contratação e aos candidatos sobre suas experiências na busca por emprego.</a:t>
            </a:r>
          </a:p>
          <a:p>
            <a:endParaRPr lang="pt-BR" sz="2400" dirty="0"/>
          </a:p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4. Coleta de Dados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Realize entrevistas e distribua questionários para o público-alvo. Por exemplo, você pode entrevistar 20 recrutadores de diferentes setores e enviar questionários para 100 candidatos.</a:t>
            </a:r>
          </a:p>
          <a:p>
            <a:pPr algn="l"/>
            <a:endParaRPr lang="pt-BR" sz="2400" b="0" i="0" dirty="0">
              <a:solidFill>
                <a:srgbClr val="242424"/>
              </a:solidFill>
              <a:effectLst/>
            </a:endParaRPr>
          </a:p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5. Análise dos Resultados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Analise os dados coletados para identificar padrões e insights. Se a maioria dos recrutadores mencionar dificuldades em encontrar candidatos qualificados, isso valida a hipótese inicial.</a:t>
            </a:r>
          </a:p>
          <a:p>
            <a:pPr algn="l"/>
            <a:endParaRPr lang="pt-BR" sz="2400" b="0" i="0" dirty="0">
              <a:solidFill>
                <a:srgbClr val="242424"/>
              </a:solidFill>
              <a:effectLst/>
            </a:endParaRPr>
          </a:p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6. Ajuste das Hipóteses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Com base nos resultados, ajuste suas hipóteses conforme necessário. Se descobrir que a dificuldade não está na qualificação dos candidatos, mas na falta de uma plataforma eficiente, ajuste sua abordagem.</a:t>
            </a: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8E96BE9-BF7B-386E-B74A-5F9A9C392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Transformando Oportunidades em Realidade - Isabel Brito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513D40-CC8D-94B2-BEED-04EAD3447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40BB-3AD7-4B08-947F-A05158C8182A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546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>
            <a:extLst>
              <a:ext uri="{FF2B5EF4-FFF2-40B4-BE49-F238E27FC236}">
                <a16:creationId xmlns:a16="http://schemas.microsoft.com/office/drawing/2014/main" id="{1EFF2D04-AC3A-73C2-1508-F300B6591FA4}"/>
              </a:ext>
            </a:extLst>
          </p:cNvPr>
          <p:cNvSpPr txBox="1"/>
          <p:nvPr/>
        </p:nvSpPr>
        <p:spPr>
          <a:xfrm>
            <a:off x="1355272" y="1388286"/>
            <a:ext cx="6237514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7. Teste de Soluções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Desenvolva protótipos ou versões beta do aplicativo e teste com um grupo pequeno de usuários. Colete feedback e faça ajustes antes do lançamento oficial.</a:t>
            </a:r>
          </a:p>
          <a:p>
            <a:pPr algn="l"/>
            <a:endParaRPr lang="pt-BR" sz="2400" b="0" i="0" dirty="0">
              <a:solidFill>
                <a:srgbClr val="242424"/>
              </a:solidFill>
              <a:effectLst/>
            </a:endParaRPr>
          </a:p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Exemplo Real: Validação de Hipóteses no </a:t>
            </a:r>
            <a:r>
              <a:rPr lang="pt-BR" sz="2400" b="1" i="1" dirty="0">
                <a:solidFill>
                  <a:srgbClr val="242424"/>
                </a:solidFill>
                <a:effectLst/>
              </a:rPr>
              <a:t>Match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Imagine que, durante a pesquisa, você descobre que 70% dos recrutadores têm dificuldade em filtrar candidatos por habilidades específicas. Com base nisso, você pode desenvolver uma funcionalidade no </a:t>
            </a:r>
            <a:r>
              <a:rPr lang="pt-BR" sz="2400" b="0" i="1" dirty="0">
                <a:solidFill>
                  <a:srgbClr val="242424"/>
                </a:solidFill>
                <a:effectLst/>
              </a:rPr>
              <a:t>Match</a:t>
            </a:r>
            <a:r>
              <a:rPr lang="pt-BR" sz="2400" b="0" i="0" dirty="0">
                <a:solidFill>
                  <a:srgbClr val="242424"/>
                </a:solidFill>
                <a:effectLst/>
              </a:rPr>
              <a:t> que permite a filtragem avançada por habilidades, validando essa solução com um grupo de recrutadores antes de lançar para o público geral.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Seguindo esses passos, você estará mais preparado para criar um aplicativo que realmente conecta talentos e empresas de maneira eficiente e eficaz.</a:t>
            </a:r>
          </a:p>
          <a:p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4A5AC4B-0180-C08C-4DA3-188FA9C1F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Transformando Oportunidades em Realidade - Isabel Brito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1C22063-2F36-C026-8EA6-43C6E93DB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40BB-3AD7-4B08-947F-A05158C8182A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3148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>
            <a:extLst>
              <a:ext uri="{FF2B5EF4-FFF2-40B4-BE49-F238E27FC236}">
                <a16:creationId xmlns:a16="http://schemas.microsoft.com/office/drawing/2014/main" id="{1EFF2D04-AC3A-73C2-1508-F300B6591FA4}"/>
              </a:ext>
            </a:extLst>
          </p:cNvPr>
          <p:cNvSpPr txBox="1"/>
          <p:nvPr/>
        </p:nvSpPr>
        <p:spPr>
          <a:xfrm>
            <a:off x="1681843" y="5044814"/>
            <a:ext cx="623751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1. Definição dos Requisitos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Liste todas as funcionalidades e características que o protótipo deve ter. Por exemplo, o ENCAIXA precisa de um sistema de filtragem avançada de candidatos por habilidades.</a:t>
            </a:r>
          </a:p>
          <a:p>
            <a:pPr algn="l"/>
            <a:endParaRPr lang="pt-BR" sz="2400" b="0" i="0" dirty="0">
              <a:solidFill>
                <a:srgbClr val="242424"/>
              </a:solidFill>
              <a:effectLst/>
            </a:endParaRPr>
          </a:p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2. Criação de </a:t>
            </a:r>
            <a:r>
              <a:rPr lang="pt-BR" sz="2400" b="1" i="0" dirty="0" err="1">
                <a:solidFill>
                  <a:srgbClr val="242424"/>
                </a:solidFill>
                <a:effectLst/>
              </a:rPr>
              <a:t>Wireframes</a:t>
            </a:r>
            <a:endParaRPr lang="pt-BR" sz="2400" b="1" i="0" dirty="0">
              <a:solidFill>
                <a:srgbClr val="242424"/>
              </a:solidFill>
              <a:effectLst/>
            </a:endParaRP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Desenhe esboços simples das telas do aplicativo para visualizar a estrutura e o layout. Use ferramentas como Sketch ou </a:t>
            </a:r>
            <a:r>
              <a:rPr lang="pt-BR" sz="2400" b="0" i="0" dirty="0" err="1">
                <a:solidFill>
                  <a:srgbClr val="242424"/>
                </a:solidFill>
                <a:effectLst/>
              </a:rPr>
              <a:t>Figma</a:t>
            </a:r>
            <a:r>
              <a:rPr lang="pt-BR" sz="2400" b="0" i="0" dirty="0">
                <a:solidFill>
                  <a:srgbClr val="242424"/>
                </a:solidFill>
                <a:effectLst/>
              </a:rPr>
              <a:t>. Por exemplo, crie </a:t>
            </a:r>
            <a:r>
              <a:rPr lang="pt-BR" sz="2400" b="0" i="0" dirty="0" err="1">
                <a:solidFill>
                  <a:srgbClr val="242424"/>
                </a:solidFill>
                <a:effectLst/>
              </a:rPr>
              <a:t>wireframes</a:t>
            </a:r>
            <a:r>
              <a:rPr lang="pt-BR" sz="2400" b="0" i="0" dirty="0">
                <a:solidFill>
                  <a:srgbClr val="242424"/>
                </a:solidFill>
                <a:effectLst/>
              </a:rPr>
              <a:t> para a tela de login, perfil do candidato e painel do recrutador.</a:t>
            </a:r>
          </a:p>
          <a:p>
            <a:endParaRPr lang="pt-BR" dirty="0"/>
          </a:p>
        </p:txBody>
      </p:sp>
      <p:sp>
        <p:nvSpPr>
          <p:cNvPr id="3" name="Título">
            <a:extLst>
              <a:ext uri="{FF2B5EF4-FFF2-40B4-BE49-F238E27FC236}">
                <a16:creationId xmlns:a16="http://schemas.microsoft.com/office/drawing/2014/main" id="{19A3112D-706A-D9DB-76E9-CE21C2A13C72}"/>
              </a:ext>
            </a:extLst>
          </p:cNvPr>
          <p:cNvSpPr txBox="1"/>
          <p:nvPr/>
        </p:nvSpPr>
        <p:spPr>
          <a:xfrm>
            <a:off x="1796143" y="669471"/>
            <a:ext cx="53394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+mj-lt"/>
              </a:rPr>
              <a:t>Protótipo</a:t>
            </a:r>
          </a:p>
        </p:txBody>
      </p:sp>
      <p:sp>
        <p:nvSpPr>
          <p:cNvPr id="5" name="Subtítulo">
            <a:extLst>
              <a:ext uri="{FF2B5EF4-FFF2-40B4-BE49-F238E27FC236}">
                <a16:creationId xmlns:a16="http://schemas.microsoft.com/office/drawing/2014/main" id="{E7F95663-9728-B4EE-49A6-7297DF536BC1}"/>
              </a:ext>
            </a:extLst>
          </p:cNvPr>
          <p:cNvSpPr txBox="1"/>
          <p:nvPr/>
        </p:nvSpPr>
        <p:spPr>
          <a:xfrm>
            <a:off x="1796143" y="2106386"/>
            <a:ext cx="648244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0" i="0" dirty="0">
                <a:solidFill>
                  <a:srgbClr val="242424"/>
                </a:solidFill>
                <a:effectLst/>
                <a:latin typeface="+mj-lt"/>
              </a:rPr>
              <a:t>Com as hipóteses validadas, é hora de transformar as ideias em um protótipo funcional. Aqui estão os principais passos para a criação do protótipo do </a:t>
            </a:r>
            <a:r>
              <a:rPr lang="pt-BR" sz="3200" b="0" i="1" dirty="0">
                <a:solidFill>
                  <a:srgbClr val="242424"/>
                </a:solidFill>
                <a:effectLst/>
                <a:latin typeface="+mj-lt"/>
              </a:rPr>
              <a:t>Match</a:t>
            </a:r>
            <a:r>
              <a:rPr lang="pt-BR" sz="3200" b="0" i="0" dirty="0">
                <a:solidFill>
                  <a:srgbClr val="242424"/>
                </a:solidFill>
                <a:effectLst/>
                <a:latin typeface="+mj-lt"/>
              </a:rPr>
              <a:t>:</a:t>
            </a:r>
            <a:endParaRPr lang="pt-BR" sz="3200" dirty="0">
              <a:latin typeface="+mj-lt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B256156-6E2F-27A8-70EF-ED8927CB5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Transformando Oportunidades em Realidade - Isabel Brito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F5F0C2-2AC1-A428-DD57-7EBA10DAB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40BB-3AD7-4B08-947F-A05158C8182A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6530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>
            <a:extLst>
              <a:ext uri="{FF2B5EF4-FFF2-40B4-BE49-F238E27FC236}">
                <a16:creationId xmlns:a16="http://schemas.microsoft.com/office/drawing/2014/main" id="{1EFF2D04-AC3A-73C2-1508-F300B6591FA4}"/>
              </a:ext>
            </a:extLst>
          </p:cNvPr>
          <p:cNvSpPr txBox="1"/>
          <p:nvPr/>
        </p:nvSpPr>
        <p:spPr>
          <a:xfrm>
            <a:off x="1355272" y="1388286"/>
            <a:ext cx="6237514" cy="886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3. Design de Interface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Desenvolva o design visual das telas, escolhendo cores, tipografia e elementos gráficos. Mantenha a identidade visual da Caixa Econômica Federal. Por exemplo, use o azul característico da Caixa e ícones que representem claramente cada funcionalidade.</a:t>
            </a:r>
          </a:p>
          <a:p>
            <a:pPr algn="l"/>
            <a:endParaRPr lang="pt-BR" sz="2400" b="0" i="0" dirty="0">
              <a:solidFill>
                <a:srgbClr val="242424"/>
              </a:solidFill>
              <a:effectLst/>
            </a:endParaRPr>
          </a:p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4. Prototipagem Interativa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Use ferramentas como </a:t>
            </a:r>
            <a:r>
              <a:rPr lang="pt-BR" sz="2400" b="0" i="0" dirty="0" err="1">
                <a:solidFill>
                  <a:srgbClr val="242424"/>
                </a:solidFill>
                <a:effectLst/>
              </a:rPr>
              <a:t>InVision</a:t>
            </a:r>
            <a:r>
              <a:rPr lang="pt-BR" sz="2400" b="0" i="0" dirty="0">
                <a:solidFill>
                  <a:srgbClr val="242424"/>
                </a:solidFill>
                <a:effectLst/>
              </a:rPr>
              <a:t> ou Adobe XD para criar um protótipo interativo. Isso permite que os usuários naveguem pelas telas e testem as funcionalidades. Por exemplo, configure a navegação entre a tela de login e o painel do recrutador.</a:t>
            </a:r>
          </a:p>
          <a:p>
            <a:pPr algn="l"/>
            <a:endParaRPr lang="pt-BR" sz="2400" b="0" i="0" dirty="0">
              <a:solidFill>
                <a:srgbClr val="242424"/>
              </a:solidFill>
              <a:effectLst/>
            </a:endParaRPr>
          </a:p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5. Testes de Usabilidade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Realize testes com usuários reais para identificar problemas e áreas de melhoria. Convide recrutadores e candidatos para testar o protótipo e fornecer feedback. Por exemplo, observe se os recrutadores conseguem facilmente filtrar candidatos por habilidades.</a:t>
            </a:r>
          </a:p>
          <a:p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59E7D06-55C2-FAD1-F2C1-974F50086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Transformando Oportunidades em Realidade - Isabel Brito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BB9DA5D-A7DA-1DFD-8643-9BD187FFB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40BB-3AD7-4B08-947F-A05158C8182A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5986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>
            <a:extLst>
              <a:ext uri="{FF2B5EF4-FFF2-40B4-BE49-F238E27FC236}">
                <a16:creationId xmlns:a16="http://schemas.microsoft.com/office/drawing/2014/main" id="{1EFF2D04-AC3A-73C2-1508-F300B6591FA4}"/>
              </a:ext>
            </a:extLst>
          </p:cNvPr>
          <p:cNvSpPr txBox="1"/>
          <p:nvPr/>
        </p:nvSpPr>
        <p:spPr>
          <a:xfrm>
            <a:off x="1355272" y="1388286"/>
            <a:ext cx="6237514" cy="10341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6. Iteração e Ajustes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Com base no feedback dos testes, faça ajustes no protótipo. Melhore a navegação, ajuste o design e refine as funcionalidades. Por exemplo, se os usuários acharem a filtragem confusa, simplifique o processo.</a:t>
            </a:r>
          </a:p>
          <a:p>
            <a:pPr algn="l"/>
            <a:endParaRPr lang="pt-BR" sz="2400" b="0" i="0" dirty="0">
              <a:solidFill>
                <a:srgbClr val="242424"/>
              </a:solidFill>
              <a:effectLst/>
            </a:endParaRPr>
          </a:p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7. Documentação e Entrega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Documente todas as decisões de design e funcionalidades do protótipo. Prepare um guia para os desenvolvedores, detalhando como cada parte do protótipo deve funcionar. Por exemplo, inclua especificações para a filtragem de candidatos e a navegação entre telas.</a:t>
            </a:r>
          </a:p>
          <a:p>
            <a:pPr algn="l"/>
            <a:endParaRPr lang="pt-BR" sz="2400" b="0" i="0" dirty="0">
              <a:solidFill>
                <a:srgbClr val="242424"/>
              </a:solidFill>
              <a:effectLst/>
            </a:endParaRPr>
          </a:p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Exemplo Real: Prototipagem do ENCAIXA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Imagine que, durante os testes de usabilidade, os recrutadores sugerem adicionar uma funcionalidade de chat para comunicação direta com os candidatos. Você pode iterar o protótipo para incluir essa funcionalidade, testando novamente com os usuários para garantir que atende às suas necessidades.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Seguindo esses passos, você estará no caminho certo para criar um protótipo funcional e eficiente que conecta talentos e empresas de maneira inovadora.</a:t>
            </a:r>
          </a:p>
          <a:p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0178341-8D8F-67A3-2F09-128762B0C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Transformando Oportunidades em Realidade - Isabel Brito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35C8E1-084F-26DF-B07A-C4E4D6FE1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40BB-3AD7-4B08-947F-A05158C8182A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6637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>
            <a:extLst>
              <a:ext uri="{FF2B5EF4-FFF2-40B4-BE49-F238E27FC236}">
                <a16:creationId xmlns:a16="http://schemas.microsoft.com/office/drawing/2014/main" id="{1EFF2D04-AC3A-73C2-1508-F300B6591FA4}"/>
              </a:ext>
            </a:extLst>
          </p:cNvPr>
          <p:cNvSpPr txBox="1"/>
          <p:nvPr/>
        </p:nvSpPr>
        <p:spPr>
          <a:xfrm>
            <a:off x="1796143" y="4507043"/>
            <a:ext cx="6237514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1. Introdução Impactante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Comece com uma introdução que capture a atenção do público. Explique brevemente o que é o </a:t>
            </a:r>
            <a:r>
              <a:rPr lang="pt-BR" sz="2400" b="0" i="1" dirty="0">
                <a:solidFill>
                  <a:srgbClr val="242424"/>
                </a:solidFill>
                <a:effectLst/>
              </a:rPr>
              <a:t>Match</a:t>
            </a:r>
            <a:r>
              <a:rPr lang="pt-BR" sz="2400" b="0" i="0" dirty="0">
                <a:solidFill>
                  <a:srgbClr val="242424"/>
                </a:solidFill>
                <a:effectLst/>
              </a:rPr>
              <a:t> e qual problema ele resolve.</a:t>
            </a:r>
          </a:p>
          <a:p>
            <a:pPr algn="l"/>
            <a:endParaRPr lang="pt-BR" sz="2400" b="0" i="0" dirty="0">
              <a:solidFill>
                <a:srgbClr val="242424"/>
              </a:solidFill>
              <a:effectLst/>
            </a:endParaRPr>
          </a:p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Exemplo:</a:t>
            </a:r>
            <a:r>
              <a:rPr lang="pt-BR" sz="2400" b="0" i="0" dirty="0">
                <a:solidFill>
                  <a:srgbClr val="242424"/>
                </a:solidFill>
                <a:effectLst/>
              </a:rPr>
              <a:t> "O </a:t>
            </a:r>
            <a:r>
              <a:rPr lang="pt-BR" sz="2400" b="0" i="1" dirty="0">
                <a:solidFill>
                  <a:srgbClr val="242424"/>
                </a:solidFill>
                <a:effectLst/>
              </a:rPr>
              <a:t>Match</a:t>
            </a:r>
            <a:r>
              <a:rPr lang="pt-BR" sz="2400" b="0" i="0" dirty="0">
                <a:solidFill>
                  <a:srgbClr val="242424"/>
                </a:solidFill>
                <a:effectLst/>
              </a:rPr>
              <a:t> é um aplicativo inovador que conecta talentos e empresas de forma eficiente, resolvendo o problema da dificuldade em encontrar candidatos qualificados rapidamente."</a:t>
            </a:r>
          </a:p>
          <a:p>
            <a:r>
              <a:rPr lang="pt-BR" sz="2400" dirty="0"/>
              <a:t>.</a:t>
            </a:r>
          </a:p>
          <a:p>
            <a:endParaRPr lang="pt-BR" dirty="0"/>
          </a:p>
        </p:txBody>
      </p:sp>
      <p:sp>
        <p:nvSpPr>
          <p:cNvPr id="3" name="Título">
            <a:extLst>
              <a:ext uri="{FF2B5EF4-FFF2-40B4-BE49-F238E27FC236}">
                <a16:creationId xmlns:a16="http://schemas.microsoft.com/office/drawing/2014/main" id="{19A3112D-706A-D9DB-76E9-CE21C2A13C72}"/>
              </a:ext>
            </a:extLst>
          </p:cNvPr>
          <p:cNvSpPr txBox="1"/>
          <p:nvPr/>
        </p:nvSpPr>
        <p:spPr>
          <a:xfrm>
            <a:off x="1796143" y="669471"/>
            <a:ext cx="6972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4000" i="0" dirty="0">
                <a:solidFill>
                  <a:srgbClr val="242424"/>
                </a:solidFill>
                <a:effectLst/>
                <a:latin typeface="+mj-lt"/>
              </a:rPr>
              <a:t>Preparando o </a:t>
            </a:r>
            <a:r>
              <a:rPr lang="pt-BR" sz="4000" i="0" dirty="0" err="1">
                <a:solidFill>
                  <a:srgbClr val="242424"/>
                </a:solidFill>
                <a:effectLst/>
                <a:latin typeface="+mj-lt"/>
              </a:rPr>
              <a:t>Pitch</a:t>
            </a:r>
            <a:r>
              <a:rPr lang="pt-BR" sz="4000" i="0" dirty="0">
                <a:solidFill>
                  <a:srgbClr val="242424"/>
                </a:solidFill>
                <a:effectLst/>
                <a:latin typeface="+mj-lt"/>
              </a:rPr>
              <a:t>: Apresentando o </a:t>
            </a:r>
            <a:r>
              <a:rPr lang="pt-BR" sz="4000" i="1" dirty="0">
                <a:solidFill>
                  <a:srgbClr val="242424"/>
                </a:solidFill>
                <a:effectLst/>
                <a:latin typeface="+mj-lt"/>
              </a:rPr>
              <a:t>Match</a:t>
            </a:r>
          </a:p>
        </p:txBody>
      </p:sp>
      <p:sp>
        <p:nvSpPr>
          <p:cNvPr id="5" name="Subtítulo">
            <a:extLst>
              <a:ext uri="{FF2B5EF4-FFF2-40B4-BE49-F238E27FC236}">
                <a16:creationId xmlns:a16="http://schemas.microsoft.com/office/drawing/2014/main" id="{E7F95663-9728-B4EE-49A6-7297DF536BC1}"/>
              </a:ext>
            </a:extLst>
          </p:cNvPr>
          <p:cNvSpPr txBox="1"/>
          <p:nvPr/>
        </p:nvSpPr>
        <p:spPr>
          <a:xfrm>
            <a:off x="1796143" y="2106386"/>
            <a:ext cx="679268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0" i="0" dirty="0">
                <a:solidFill>
                  <a:srgbClr val="242424"/>
                </a:solidFill>
                <a:effectLst/>
                <a:latin typeface="+mj-lt"/>
              </a:rPr>
              <a:t>Com o protótipo pronto, é hora de preparar um </a:t>
            </a:r>
            <a:r>
              <a:rPr lang="pt-BR" sz="3200" b="0" i="0" dirty="0" err="1">
                <a:solidFill>
                  <a:srgbClr val="242424"/>
                </a:solidFill>
                <a:effectLst/>
                <a:latin typeface="+mj-lt"/>
              </a:rPr>
              <a:t>pitch</a:t>
            </a:r>
            <a:r>
              <a:rPr lang="pt-BR" sz="3200" b="0" i="0" dirty="0">
                <a:solidFill>
                  <a:srgbClr val="242424"/>
                </a:solidFill>
                <a:effectLst/>
                <a:latin typeface="+mj-lt"/>
              </a:rPr>
              <a:t> convincente para apresentar aos investidores, parceiros ou stakeholders. </a:t>
            </a:r>
            <a:endParaRPr lang="pt-BR" sz="3200" dirty="0">
              <a:latin typeface="+mj-lt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8A3C743-7AF9-F3FE-9249-C110BCD5B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Transformando Oportunidades em Realidade - Isabel Brito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7A4F97-4556-79D3-EBF8-79385D2E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40BB-3AD7-4B08-947F-A05158C8182A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60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>
            <a:extLst>
              <a:ext uri="{FF2B5EF4-FFF2-40B4-BE49-F238E27FC236}">
                <a16:creationId xmlns:a16="http://schemas.microsoft.com/office/drawing/2014/main" id="{1EFF2D04-AC3A-73C2-1508-F300B6591FA4}"/>
              </a:ext>
            </a:extLst>
          </p:cNvPr>
          <p:cNvSpPr txBox="1"/>
          <p:nvPr/>
        </p:nvSpPr>
        <p:spPr>
          <a:xfrm>
            <a:off x="1485901" y="620843"/>
            <a:ext cx="6237514" cy="11818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2. Problema e Solução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Descreva o problema que você identificou e como o ENCAIXA oferece uma solução única.</a:t>
            </a:r>
          </a:p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Exemplo:</a:t>
            </a:r>
            <a:r>
              <a:rPr lang="pt-BR" sz="2400" b="0" i="0" dirty="0">
                <a:solidFill>
                  <a:srgbClr val="242424"/>
                </a:solidFill>
                <a:effectLst/>
              </a:rPr>
              <a:t> "Empresas enfrentam desafios ao encontrar candidatos com as habilidades certas. O ENCAIXA resolve isso com um sistema de filtragem avançada que permite aos recrutadores encontrar rapidamente os melhores talentos.“</a:t>
            </a:r>
          </a:p>
          <a:p>
            <a:pPr algn="l"/>
            <a:endParaRPr lang="pt-BR" sz="2400" dirty="0">
              <a:solidFill>
                <a:srgbClr val="242424"/>
              </a:solidFill>
            </a:endParaRPr>
          </a:p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3. Funcionalidades Principais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Apresente as principais funcionalidades do aplicativo, destacando como elas beneficiam os usuários.</a:t>
            </a:r>
          </a:p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Exemplo:</a:t>
            </a:r>
            <a:r>
              <a:rPr lang="pt-BR" sz="2400" b="0" i="0" dirty="0">
                <a:solidFill>
                  <a:srgbClr val="242424"/>
                </a:solidFill>
                <a:effectLst/>
              </a:rPr>
              <a:t> "O ENCAIXA oferece: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2400" b="0" i="0" dirty="0">
                <a:solidFill>
                  <a:srgbClr val="242424"/>
                </a:solidFill>
                <a:effectLst/>
              </a:rPr>
              <a:t>Filtragem avançada por habilidades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2400" b="0" i="0" dirty="0">
                <a:solidFill>
                  <a:srgbClr val="242424"/>
                </a:solidFill>
                <a:effectLst/>
              </a:rPr>
              <a:t>Perfis detalhados de candidatos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2400" b="0" i="0" dirty="0">
                <a:solidFill>
                  <a:srgbClr val="242424"/>
                </a:solidFill>
                <a:effectLst/>
              </a:rPr>
              <a:t>Comunicação direta via chat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2400" b="0" i="0" dirty="0">
                <a:solidFill>
                  <a:srgbClr val="242424"/>
                </a:solidFill>
                <a:effectLst/>
              </a:rPr>
              <a:t>Painel intuitivo para recrutadores“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sz="2400" b="0" i="0" dirty="0">
              <a:solidFill>
                <a:srgbClr val="242424"/>
              </a:solidFill>
              <a:effectLst/>
            </a:endParaRPr>
          </a:p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4. Demonstração do Protótipo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Mostre o protótipo em ação, navegando pelas principais telas e funcionalidades. Destaque a facilidade de uso e a eficiência do aplicativo.</a:t>
            </a:r>
          </a:p>
          <a:p>
            <a:pPr algn="l"/>
            <a:endParaRPr lang="pt-BR" sz="2400" b="0" i="0" dirty="0">
              <a:solidFill>
                <a:srgbClr val="242424"/>
              </a:solidFill>
              <a:effectLst/>
            </a:endParaRPr>
          </a:p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Exemplo:</a:t>
            </a:r>
            <a:r>
              <a:rPr lang="pt-BR" sz="2400" b="0" i="0" dirty="0">
                <a:solidFill>
                  <a:srgbClr val="242424"/>
                </a:solidFill>
                <a:effectLst/>
              </a:rPr>
              <a:t> "Aqui está a tela de login, seguida pelo painel do recrutador, onde é possível filtrar candidatos por habilidades específicas e iniciar uma conversa diretamente pelo chat."</a:t>
            </a:r>
          </a:p>
          <a:p>
            <a:pPr algn="l"/>
            <a:endParaRPr lang="pt-BR" sz="2400" b="0" i="0" dirty="0">
              <a:solidFill>
                <a:srgbClr val="242424"/>
              </a:solidFill>
              <a:effectLst/>
            </a:endParaRPr>
          </a:p>
          <a:p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01EC821-72FC-72FE-2B48-2A20BF683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Transformando Oportunidades em Realidade - Isabel Brito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6524609-1AF4-8A67-B7CD-D6805CFD9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40BB-3AD7-4B08-947F-A05158C8182A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3295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>
            <a:extLst>
              <a:ext uri="{FF2B5EF4-FFF2-40B4-BE49-F238E27FC236}">
                <a16:creationId xmlns:a16="http://schemas.microsoft.com/office/drawing/2014/main" id="{1EFF2D04-AC3A-73C2-1508-F300B6591FA4}"/>
              </a:ext>
            </a:extLst>
          </p:cNvPr>
          <p:cNvSpPr txBox="1"/>
          <p:nvPr/>
        </p:nvSpPr>
        <p:spPr>
          <a:xfrm>
            <a:off x="1485901" y="620843"/>
            <a:ext cx="6237514" cy="1144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5. Mercado e Oportunidade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Explique o tamanho do mercado e a oportunidade que o </a:t>
            </a:r>
            <a:r>
              <a:rPr lang="pt-BR" sz="2400" b="0" i="1" dirty="0">
                <a:solidFill>
                  <a:srgbClr val="242424"/>
                </a:solidFill>
                <a:effectLst/>
              </a:rPr>
              <a:t>Match</a:t>
            </a:r>
            <a:r>
              <a:rPr lang="pt-BR" sz="2400" b="0" i="0" dirty="0">
                <a:solidFill>
                  <a:srgbClr val="242424"/>
                </a:solidFill>
                <a:effectLst/>
              </a:rPr>
              <a:t> representa. Use dados e estatísticas para fortalecer seu argumento.</a:t>
            </a:r>
          </a:p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Exemplo:</a:t>
            </a:r>
            <a:r>
              <a:rPr lang="pt-BR" sz="2400" b="0" i="0" dirty="0">
                <a:solidFill>
                  <a:srgbClr val="242424"/>
                </a:solidFill>
                <a:effectLst/>
              </a:rPr>
              <a:t> "O mercado de recrutamento online está em crescimento, com uma previsão de atingir X bilhões de dólares até 2025. O </a:t>
            </a:r>
            <a:r>
              <a:rPr lang="pt-BR" sz="2400" b="0" i="1" dirty="0">
                <a:solidFill>
                  <a:srgbClr val="242424"/>
                </a:solidFill>
                <a:effectLst/>
              </a:rPr>
              <a:t>Match</a:t>
            </a:r>
            <a:r>
              <a:rPr lang="pt-BR" sz="2400" b="0" i="0" dirty="0">
                <a:solidFill>
                  <a:srgbClr val="242424"/>
                </a:solidFill>
                <a:effectLst/>
              </a:rPr>
              <a:t> está posicionado para capturar uma fatia significativa desse mercado.“</a:t>
            </a:r>
          </a:p>
          <a:p>
            <a:pPr algn="l"/>
            <a:endParaRPr lang="pt-BR" sz="2400" b="0" i="0" dirty="0">
              <a:solidFill>
                <a:srgbClr val="242424"/>
              </a:solidFill>
              <a:effectLst/>
            </a:endParaRPr>
          </a:p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6. Modelo de Negócio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Descreva como o </a:t>
            </a:r>
            <a:r>
              <a:rPr lang="pt-BR" sz="2400" b="0" i="1" dirty="0">
                <a:solidFill>
                  <a:srgbClr val="242424"/>
                </a:solidFill>
                <a:effectLst/>
              </a:rPr>
              <a:t>Match</a:t>
            </a:r>
            <a:r>
              <a:rPr lang="pt-BR" sz="2400" b="0" i="0" dirty="0">
                <a:solidFill>
                  <a:srgbClr val="242424"/>
                </a:solidFill>
                <a:effectLst/>
              </a:rPr>
              <a:t> vai gerar receita. Pode ser através de assinaturas, anúncios ou taxas de serviço.</a:t>
            </a:r>
          </a:p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Exemplo:</a:t>
            </a:r>
            <a:r>
              <a:rPr lang="pt-BR" sz="2400" b="0" i="0" dirty="0">
                <a:solidFill>
                  <a:srgbClr val="242424"/>
                </a:solidFill>
                <a:effectLst/>
              </a:rPr>
              <a:t> "Nosso modelo de negócio é baseado em assinaturas mensais para empresas, oferecendo acesso a funcionalidades premium e suporte dedicado.“</a:t>
            </a:r>
          </a:p>
          <a:p>
            <a:pPr algn="l"/>
            <a:endParaRPr lang="pt-BR" sz="2400" b="0" i="0" dirty="0">
              <a:solidFill>
                <a:srgbClr val="242424"/>
              </a:solidFill>
              <a:effectLst/>
            </a:endParaRPr>
          </a:p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7. Equipe e Diferenciais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Apresente a equipe por trás do </a:t>
            </a:r>
            <a:r>
              <a:rPr lang="pt-BR" sz="2400" b="0" i="1" dirty="0">
                <a:solidFill>
                  <a:srgbClr val="242424"/>
                </a:solidFill>
                <a:effectLst/>
              </a:rPr>
              <a:t>Match</a:t>
            </a:r>
            <a:r>
              <a:rPr lang="pt-BR" sz="2400" b="0" i="0" dirty="0">
                <a:solidFill>
                  <a:srgbClr val="242424"/>
                </a:solidFill>
                <a:effectLst/>
              </a:rPr>
              <a:t> e destaque os diferenciais que tornam o aplicativo único.</a:t>
            </a:r>
          </a:p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Exemplo:</a:t>
            </a:r>
            <a:r>
              <a:rPr lang="pt-BR" sz="2400" b="0" i="0" dirty="0">
                <a:solidFill>
                  <a:srgbClr val="242424"/>
                </a:solidFill>
                <a:effectLst/>
              </a:rPr>
              <a:t> "Nossa equipe é composta por especialistas em tecnologia e recrutamento, com anos de experiência no setor. O Match se destaca pela sua interface intuitiva e funcionalidades avançadas."</a:t>
            </a:r>
          </a:p>
          <a:p>
            <a:pPr algn="l"/>
            <a:endParaRPr lang="pt-BR" sz="2400" b="0" i="0" dirty="0">
              <a:solidFill>
                <a:srgbClr val="242424"/>
              </a:solidFill>
              <a:effectLst/>
            </a:endParaRPr>
          </a:p>
          <a:p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1D406E0-81C2-0CE9-466C-F8D277EDB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Transformando Oportunidades em Realidade - Isabel Brito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EC7D83-7F42-BF59-63CA-75602911B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40BB-3AD7-4B08-947F-A05158C8182A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825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>
            <a:extLst>
              <a:ext uri="{FF2B5EF4-FFF2-40B4-BE49-F238E27FC236}">
                <a16:creationId xmlns:a16="http://schemas.microsoft.com/office/drawing/2014/main" id="{1EFF2D04-AC3A-73C2-1508-F300B6591FA4}"/>
              </a:ext>
            </a:extLst>
          </p:cNvPr>
          <p:cNvSpPr txBox="1"/>
          <p:nvPr/>
        </p:nvSpPr>
        <p:spPr>
          <a:xfrm>
            <a:off x="1485901" y="620843"/>
            <a:ext cx="6237514" cy="886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8. Chamada para Ação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Finalize o </a:t>
            </a:r>
            <a:r>
              <a:rPr lang="pt-BR" sz="2400" b="0" i="0" dirty="0" err="1">
                <a:solidFill>
                  <a:srgbClr val="242424"/>
                </a:solidFill>
                <a:effectLst/>
              </a:rPr>
              <a:t>pitch</a:t>
            </a:r>
            <a:r>
              <a:rPr lang="pt-BR" sz="2400" b="0" i="0" dirty="0">
                <a:solidFill>
                  <a:srgbClr val="242424"/>
                </a:solidFill>
                <a:effectLst/>
              </a:rPr>
              <a:t> com uma chamada para ação clara, convidando os investidores ou parceiros a se juntarem ao projeto.</a:t>
            </a:r>
          </a:p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Exemplo:</a:t>
            </a:r>
            <a:r>
              <a:rPr lang="pt-BR" sz="2400" b="0" i="0" dirty="0">
                <a:solidFill>
                  <a:srgbClr val="242424"/>
                </a:solidFill>
                <a:effectLst/>
              </a:rPr>
              <a:t> "Estamos em busca de parceiros estratégicos e investidores para levar o </a:t>
            </a:r>
            <a:r>
              <a:rPr lang="pt-BR" sz="2400" b="0" i="1" dirty="0">
                <a:solidFill>
                  <a:srgbClr val="242424"/>
                </a:solidFill>
                <a:effectLst/>
              </a:rPr>
              <a:t>Match</a:t>
            </a:r>
            <a:r>
              <a:rPr lang="pt-BR" sz="2400" b="0" i="0" dirty="0">
                <a:solidFill>
                  <a:srgbClr val="242424"/>
                </a:solidFill>
                <a:effectLst/>
              </a:rPr>
              <a:t> ao próximo nível. Junte-se a nós e ajude a transformar o mercado de recrutamento.“</a:t>
            </a:r>
          </a:p>
          <a:p>
            <a:pPr algn="l"/>
            <a:endParaRPr lang="pt-BR" sz="2400" b="0" i="0" dirty="0">
              <a:solidFill>
                <a:srgbClr val="242424"/>
              </a:solidFill>
              <a:effectLst/>
            </a:endParaRPr>
          </a:p>
          <a:p>
            <a:pPr algn="l"/>
            <a:r>
              <a:rPr lang="pt-BR" sz="2400" b="1" i="0" dirty="0">
                <a:solidFill>
                  <a:srgbClr val="242424"/>
                </a:solidFill>
                <a:effectLst/>
              </a:rPr>
              <a:t>Exemplo Real: </a:t>
            </a:r>
            <a:r>
              <a:rPr lang="pt-BR" sz="2400" b="1" i="0" dirty="0" err="1">
                <a:solidFill>
                  <a:srgbClr val="242424"/>
                </a:solidFill>
                <a:effectLst/>
              </a:rPr>
              <a:t>Pitch</a:t>
            </a:r>
            <a:r>
              <a:rPr lang="pt-BR" sz="2400" b="1" i="0" dirty="0">
                <a:solidFill>
                  <a:srgbClr val="242424"/>
                </a:solidFill>
                <a:effectLst/>
              </a:rPr>
              <a:t> do </a:t>
            </a:r>
            <a:r>
              <a:rPr lang="pt-BR" sz="2400" b="1" i="1" dirty="0">
                <a:solidFill>
                  <a:srgbClr val="242424"/>
                </a:solidFill>
                <a:effectLst/>
              </a:rPr>
              <a:t>Match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Imagine que você está apresentando o </a:t>
            </a:r>
            <a:r>
              <a:rPr lang="pt-BR" sz="2400" b="0" i="1" dirty="0">
                <a:solidFill>
                  <a:srgbClr val="242424"/>
                </a:solidFill>
                <a:effectLst/>
              </a:rPr>
              <a:t>Match</a:t>
            </a:r>
            <a:r>
              <a:rPr lang="pt-BR" sz="2400" b="0" i="0" dirty="0">
                <a:solidFill>
                  <a:srgbClr val="242424"/>
                </a:solidFill>
                <a:effectLst/>
              </a:rPr>
              <a:t> para um grupo de investidores. Você começa com uma introdução impactante, descreve o problema e a solução, demonstra o protótipo, apresenta o mercado e a oportunidade, explica o modelo de negócio, destaca a equipe e diferenciais, e finaliza com uma chamada para ação. Esse formato garante que seu </a:t>
            </a:r>
            <a:r>
              <a:rPr lang="pt-BR" sz="2400" b="0" i="0" dirty="0" err="1">
                <a:solidFill>
                  <a:srgbClr val="242424"/>
                </a:solidFill>
                <a:effectLst/>
              </a:rPr>
              <a:t>pitch</a:t>
            </a:r>
            <a:r>
              <a:rPr lang="pt-BR" sz="2400" b="0" i="0" dirty="0">
                <a:solidFill>
                  <a:srgbClr val="242424"/>
                </a:solidFill>
                <a:effectLst/>
              </a:rPr>
              <a:t> seja claro, conciso e convincente.</a:t>
            </a:r>
          </a:p>
          <a:p>
            <a:pPr algn="l"/>
            <a:r>
              <a:rPr lang="pt-BR" sz="2400" b="0" i="0" dirty="0">
                <a:solidFill>
                  <a:srgbClr val="242424"/>
                </a:solidFill>
                <a:effectLst/>
              </a:rPr>
              <a:t>Seguindo esses passos, você estará preparado para apresentar o </a:t>
            </a:r>
            <a:r>
              <a:rPr lang="pt-BR" sz="2400" b="0" i="1" dirty="0">
                <a:solidFill>
                  <a:srgbClr val="242424"/>
                </a:solidFill>
                <a:effectLst/>
              </a:rPr>
              <a:t>Match</a:t>
            </a:r>
            <a:r>
              <a:rPr lang="pt-BR" sz="2400" b="0" i="0" dirty="0">
                <a:solidFill>
                  <a:srgbClr val="242424"/>
                </a:solidFill>
                <a:effectLst/>
              </a:rPr>
              <a:t> de maneira eficaz e atrair o interesse de investidores e parceiros.</a:t>
            </a:r>
          </a:p>
          <a:p>
            <a:pPr algn="l"/>
            <a:endParaRPr lang="pt-BR" sz="2400" b="0" i="0" dirty="0">
              <a:solidFill>
                <a:srgbClr val="242424"/>
              </a:solidFill>
              <a:effectLst/>
            </a:endParaRPr>
          </a:p>
          <a:p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F0DB59A-472A-87D8-B5FB-27A9F3E79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Transformando Oportunidades em Realidade - Isabel Brito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92108A-5710-8347-FDBD-862E202F9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40BB-3AD7-4B08-947F-A05158C8182A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1273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6D0960A2-02A5-2A43-4027-EF04D6C08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Transformando Oportunidades em Realidade - Isabel Brito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8F56B9F-77F0-2C5E-7B29-189803EF9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40BB-3AD7-4B08-947F-A05158C8182A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71432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119</TotalTime>
  <Words>1474</Words>
  <Application>Microsoft Office PowerPoint</Application>
  <PresentationFormat>Papel A3 (297 x 420 mm)</PresentationFormat>
  <Paragraphs>114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Arial</vt:lpstr>
      <vt:lpstr>CAIXA Std Book</vt:lpstr>
      <vt:lpstr>CAIXA Std ExtraBold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Caixa Economica Federal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Isabel Cristina Brito</dc:creator>
  <cp:lastModifiedBy>Isabel Cristina Brito</cp:lastModifiedBy>
  <cp:revision>3</cp:revision>
  <dcterms:created xsi:type="dcterms:W3CDTF">2025-01-09T22:02:57Z</dcterms:created>
  <dcterms:modified xsi:type="dcterms:W3CDTF">2025-01-10T15:33:44Z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de7aacd-7cc4-4c31-9e6f-7ef306428f09_Enabled">
    <vt:lpwstr>true</vt:lpwstr>
  </property>
  <property fmtid="{D5CDD505-2E9C-101B-9397-08002B2CF9AE}" pid="3" name="MSIP_Label_fde7aacd-7cc4-4c31-9e6f-7ef306428f09_SetDate">
    <vt:lpwstr>2025-01-09T22:36:48Z</vt:lpwstr>
  </property>
  <property fmtid="{D5CDD505-2E9C-101B-9397-08002B2CF9AE}" pid="4" name="MSIP_Label_fde7aacd-7cc4-4c31-9e6f-7ef306428f09_Method">
    <vt:lpwstr>Privileged</vt:lpwstr>
  </property>
  <property fmtid="{D5CDD505-2E9C-101B-9397-08002B2CF9AE}" pid="5" name="MSIP_Label_fde7aacd-7cc4-4c31-9e6f-7ef306428f09_Name">
    <vt:lpwstr>_PUBLICO</vt:lpwstr>
  </property>
  <property fmtid="{D5CDD505-2E9C-101B-9397-08002B2CF9AE}" pid="6" name="MSIP_Label_fde7aacd-7cc4-4c31-9e6f-7ef306428f09_SiteId">
    <vt:lpwstr>ab9bba98-684a-43fb-add8-9c2bebede229</vt:lpwstr>
  </property>
  <property fmtid="{D5CDD505-2E9C-101B-9397-08002B2CF9AE}" pid="7" name="MSIP_Label_fde7aacd-7cc4-4c31-9e6f-7ef306428f09_ActionId">
    <vt:lpwstr>4ee4e45d-2caf-49fe-9924-d638cb474782</vt:lpwstr>
  </property>
  <property fmtid="{D5CDD505-2E9C-101B-9397-08002B2CF9AE}" pid="8" name="MSIP_Label_fde7aacd-7cc4-4c31-9e6f-7ef306428f09_ContentBits">
    <vt:lpwstr>1</vt:lpwstr>
  </property>
</Properties>
</file>